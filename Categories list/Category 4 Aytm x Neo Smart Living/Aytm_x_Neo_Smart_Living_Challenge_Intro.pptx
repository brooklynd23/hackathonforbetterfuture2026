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C7A"/>
                </a:solidFill>
                <a:latin typeface="Calibri"/>
              </a:defRPr>
            </a:pPr>
            <a:r>
              <a:t>CPP AI HACKATHON  —  "AI FOR A BETTER FUTURE"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0D1B2A"/>
                </a:solidFill>
                <a:latin typeface="Calibri"/>
              </a:defRPr>
            </a:pPr>
            <a:r>
              <a:t>Aytm x Neo Smart Living</a:t>
            </a:r>
          </a:p>
          <a:p>
            <a:pPr>
              <a:spcBef>
                <a:spcPts val="200"/>
              </a:spcBef>
              <a:defRPr sz="2000">
                <a:solidFill>
                  <a:srgbClr val="6B6B6B"/>
                </a:solidFill>
                <a:latin typeface="Calibri"/>
              </a:defRPr>
            </a:pPr>
            <a:r>
              <a:t>Open-Source Simulated Market Research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Joint Sponsors: Aytm + Neo Smart Living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$2,000 Prize Pool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82880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Category: Industry Standards &amp; Thought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AI Fair Finale: April 16, 2026  |  Bronco Student Center, Ursa Major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5394960" cy="3828784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7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C7A"/>
                </a:solidFill>
                <a:latin typeface="Calibri"/>
              </a:defRPr>
            </a:pPr>
            <a:r>
              <a:t>SPONSOR: AYTM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Insights Technology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12121"/>
                </a:solidFill>
                <a:latin typeface="Calibri"/>
              </a:rPr>
              <a:t>End-to-end consumer research platform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— audience targeting, AI-powered survey design, analysis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12121"/>
                </a:solidFill>
                <a:latin typeface="Calibri"/>
              </a:rPr>
              <a:t>Skipper AI: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Draft (survey creation), Explore (audience), </a:t>
            </a:r>
            <a:r>
              <a:rPr sz="1200" b="0" dirty="0" err="1">
                <a:solidFill>
                  <a:srgbClr val="6B6B6B"/>
                </a:solidFill>
                <a:latin typeface="Calibri"/>
              </a:rPr>
              <a:t>Autocode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(open-end coding), Conversation AI (qual at scale)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12121"/>
                </a:solidFill>
                <a:latin typeface="Calibri"/>
              </a:rPr>
              <a:t>Origin: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Founded when co-founders Lev </a:t>
            </a:r>
            <a:r>
              <a:rPr sz="1200" b="0" dirty="0" err="1">
                <a:solidFill>
                  <a:srgbClr val="6B6B6B"/>
                </a:solidFill>
                <a:latin typeface="Calibri"/>
              </a:rPr>
              <a:t>Mazin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&amp; David Handel discovered quality MR was prohibitively expensive for entrepreneurs. Launched MVP in 3 months; debuted at TechCrunch50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12121"/>
                </a:solidFill>
                <a:latin typeface="Calibri"/>
              </a:rPr>
              <a:t>Lighthouse Academy: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$1M+ university partnerships (MSU, UGA) bringing AI research tools into classrooms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12121"/>
                </a:solidFill>
                <a:latin typeface="Calibri"/>
              </a:rPr>
              <a:t>Role in this challenge: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6B6B"/>
                </a:solidFill>
                <a:latin typeface="Calibri"/>
              </a:rPr>
              <a:t>Aytm's</a:t>
            </a:r>
            <a:r>
              <a:rPr sz="1200" b="0" dirty="0">
                <a:solidFill>
                  <a:srgbClr val="6B6B6B"/>
                </a:solidFill>
                <a:latin typeface="Calibri"/>
              </a:rPr>
              <a:t> Skipper is the commercial benchmark. Students build the transparent, open-source alternative</a:t>
            </a:r>
          </a:p>
          <a:p>
            <a:pPr>
              <a:spcBef>
                <a:spcPts val="400"/>
              </a:spcBef>
            </a:pPr>
            <a:r>
              <a:rPr sz="1000" i="1" dirty="0" err="1">
                <a:solidFill>
                  <a:srgbClr val="007C7A"/>
                </a:solidFill>
                <a:latin typeface="Calibri"/>
              </a:rPr>
              <a:t>aytm.com</a:t>
            </a:r>
            <a:r>
              <a:rPr sz="1000" i="1" dirty="0">
                <a:solidFill>
                  <a:srgbClr val="007C7A"/>
                </a:solidFill>
                <a:latin typeface="Calibri"/>
              </a:rPr>
              <a:t>  |  Inc. 5000 Fastest-Growing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80360"/>
            <a:ext cx="5394960" cy="3828784"/>
          </a:xfrm>
          <a:prstGeom prst="roundRect">
            <a:avLst>
              <a:gd name="adj" fmla="val 5000"/>
            </a:avLst>
          </a:prstGeom>
          <a:solidFill>
            <a:srgbClr val="FCE4E0"/>
          </a:solidFill>
          <a:ln w="12700">
            <a:solidFill>
              <a:srgbClr val="E85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D45"/>
                </a:solidFill>
                <a:latin typeface="Calibri"/>
              </a:defRPr>
            </a:pPr>
            <a:r>
              <a:t>SPONSOR: NEO SMART LIVING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Prefab Homes for Adventurers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Flagship: Tahoe Mini</a:t>
            </a:r>
            <a:r>
              <a:rPr sz="1200" b="0">
                <a:solidFill>
                  <a:srgbClr val="6B6B6B"/>
                </a:solidFill>
                <a:latin typeface="Calibri"/>
              </a:rPr>
              <a:t> — 117 sq ft backyard structure, ~$23K, one-day install, often permit-free in CA. Seven-figure revenue in 2025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Use cases:</a:t>
            </a:r>
            <a:r>
              <a:rPr sz="1200" b="0">
                <a:solidFill>
                  <a:srgbClr val="6B6B6B"/>
                </a:solidFill>
                <a:latin typeface="Calibri"/>
              </a:rPr>
              <a:t> Home office, guest suite/STR, wellness studio, adventure basecamp, storage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Eco-conscious:</a:t>
            </a:r>
            <a:r>
              <a:rPr sz="1200" b="0">
                <a:solidFill>
                  <a:srgbClr val="6B6B6B"/>
                </a:solidFill>
                <a:latin typeface="Calibri"/>
              </a:rPr>
              <a:t> Factory-built prefab generates less waste &amp; energy vs. stick-built ($200–$500/sq ft traditional)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CEO Ming:</a:t>
            </a:r>
            <a:r>
              <a:rPr sz="1200" b="0">
                <a:solidFill>
                  <a:srgbClr val="6B6B6B"/>
                </a:solidFill>
                <a:latin typeface="Calibri"/>
              </a:rPr>
              <a:t> Decade of RV industry leadership; leads Neo Camper expansion (LA, Australia, Asia)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12121"/>
                </a:solidFill>
                <a:latin typeface="Calibri"/>
              </a:rPr>
              <a:t>Co-Founder Tony Koo:</a:t>
            </a:r>
            <a:r>
              <a:rPr sz="1200" b="0">
                <a:solidFill>
                  <a:srgbClr val="6B6B6B"/>
                </a:solidFill>
                <a:latin typeface="Calibri"/>
              </a:rPr>
              <a:t> Serial entrepreneur and CPP College of Business dropout — a full-circle CPP connection. Live client for this challenge</a:t>
            </a:r>
          </a:p>
          <a:p>
            <a:pPr>
              <a:spcBef>
                <a:spcPts val="400"/>
              </a:spcBef>
            </a:pPr>
            <a:r>
              <a:rPr sz="1000" i="1">
                <a:solidFill>
                  <a:srgbClr val="E85D45"/>
                </a:solidFill>
                <a:latin typeface="Calibri"/>
              </a:rPr>
              <a:t>neosmartliving.com  |  Chino, CA  |  1-888-NEO-0321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Calibri"/>
              </a:defRPr>
            </a:pPr>
            <a:r>
              <a:t>The Problem: Market Research Is Broken for Those Who Need It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Traditional market research costs $6K–$48K+. Synthetic alternatives are cheap but unreliable. There is no accessible open-source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85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54864"/>
          </a:xfrm>
          <a:prstGeom prst="rect">
            <a:avLst/>
          </a:prstGeom>
          <a:solidFill>
            <a:srgbClr val="E85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E85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Prohibitive Cost for</a:t>
            </a:r>
            <a:br/>
            <a:r>
              <a:t>Niche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General survey (n=600): ~$6,000</a:t>
            </a:r>
            <a:br/>
            <a:r>
              <a:t>SoCal homeowners (Neo's niche): $12K–$24K</a:t>
            </a:r>
            <a:br/>
            <a:r>
              <a:t>Add depth interviews: +$3K–$9K</a:t>
            </a:r>
            <a:br/>
            <a:br/>
            <a:r>
              <a:t>Startups need MR the most but can</a:t>
            </a:r>
            <a:br/>
            <a:r>
              <a:t>afford it the least — an accessibility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007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566160" cy="54864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1737360"/>
            <a:ext cx="411480" cy="411480"/>
          </a:xfrm>
          <a:prstGeom prst="ellipse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19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Unreliable Synthetic</a:t>
            </a:r>
            <a:br/>
            <a:r>
              <a:t>Alternatives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LLM "digital twins" cost ~$2–$4 total,</a:t>
            </a:r>
            <a:br/>
            <a:r>
              <a:t>but Peng et al. (2026) found 5 systematic</a:t>
            </a:r>
            <a:br/>
            <a:r>
              <a:t>distortions — "funhouse mirrors."</a:t>
            </a:r>
            <a:br/>
            <a:br/>
            <a:r>
              <a:t>Without validation workflows, synthetic</a:t>
            </a:r>
            <a:br/>
            <a:r>
              <a:t>data misleads rather than informs.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566160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0" y="1737360"/>
            <a:ext cx="411480" cy="4114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719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No Accessible</a:t>
            </a:r>
            <a:br/>
            <a:r>
              <a:t>Open-Source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Connecting LLM APIs to persona generation,</a:t>
            </a:r>
            <a:br/>
            <a:r>
              <a:t>interview simulation, survey synthesis, and</a:t>
            </a:r>
            <a:br/>
            <a:r>
              <a:t>analysis requires programming expertise.</a:t>
            </a:r>
            <a:br/>
            <a:br/>
            <a:r>
              <a:t>No tool walks a practitioner from qual</a:t>
            </a:r>
            <a:br/>
            <a:r>
              <a:t>interviews through quant survey simulation.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C7A"/>
                </a:solidFill>
                <a:latin typeface="Calibri"/>
              </a:defRPr>
            </a:pPr>
            <a:r>
              <a:t>COST COMPARISON: WHY OPEN-SOURCE MATTERS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12700">
            <a:solidFill>
              <a:srgbClr val="007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6B6B6B"/>
                </a:solidFill>
                <a:latin typeface="Calibri"/>
              </a:rPr>
              <a:t>30 depth interviews:  </a:t>
            </a:r>
            <a:r>
              <a:rPr sz="1300" b="1" dirty="0">
                <a:solidFill>
                  <a:srgbClr val="007C7A"/>
                </a:solidFill>
                <a:latin typeface="Calibri"/>
              </a:rPr>
              <a:t>~$0.50 (API)</a:t>
            </a:r>
            <a:r>
              <a:rPr sz="1300" b="0" dirty="0">
                <a:solidFill>
                  <a:srgbClr val="6B6B6B"/>
                </a:solidFill>
                <a:latin typeface="Calibri"/>
              </a:rPr>
              <a:t>  vs.  </a:t>
            </a:r>
            <a:r>
              <a:rPr sz="1300" b="1" dirty="0">
                <a:solidFill>
                  <a:srgbClr val="E85D45"/>
                </a:solidFill>
                <a:latin typeface="Calibri"/>
              </a:rPr>
              <a:t>$3,000–$9,000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6B6B6B"/>
                </a:solidFill>
                <a:latin typeface="Calibri"/>
              </a:rPr>
              <a:t>600 survey responses (SoCal homeowners):  </a:t>
            </a:r>
            <a:r>
              <a:rPr sz="1300" b="1" dirty="0">
                <a:solidFill>
                  <a:srgbClr val="007C7A"/>
                </a:solidFill>
                <a:latin typeface="Calibri"/>
              </a:rPr>
              <a:t>~$1.50 (API)</a:t>
            </a:r>
            <a:r>
              <a:rPr sz="1300" b="0" dirty="0">
                <a:solidFill>
                  <a:srgbClr val="6B6B6B"/>
                </a:solidFill>
                <a:latin typeface="Calibri"/>
              </a:rPr>
              <a:t>  vs.  </a:t>
            </a:r>
            <a:r>
              <a:rPr sz="1300" b="1" dirty="0">
                <a:solidFill>
                  <a:srgbClr val="E85D45"/>
                </a:solidFill>
                <a:latin typeface="Calibri"/>
              </a:rPr>
              <a:t>$12,000–$24,000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6B6B6B"/>
                </a:solidFill>
                <a:latin typeface="Calibri"/>
              </a:rPr>
              <a:t>Analysis + platform:  </a:t>
            </a:r>
            <a:r>
              <a:rPr sz="1300" b="1" dirty="0">
                <a:solidFill>
                  <a:srgbClr val="007C7A"/>
                </a:solidFill>
                <a:latin typeface="Calibri"/>
              </a:rPr>
              <a:t>~$0.50 (LLM) + $0 (</a:t>
            </a:r>
            <a:r>
              <a:rPr sz="1300" b="1" dirty="0" err="1">
                <a:solidFill>
                  <a:srgbClr val="007C7A"/>
                </a:solidFill>
                <a:latin typeface="Calibri"/>
              </a:rPr>
              <a:t>Streamlit</a:t>
            </a:r>
            <a:r>
              <a:rPr sz="1300" b="1" dirty="0">
                <a:solidFill>
                  <a:srgbClr val="007C7A"/>
                </a:solidFill>
                <a:latin typeface="Calibri"/>
              </a:rPr>
              <a:t>)</a:t>
            </a:r>
            <a:r>
              <a:rPr sz="1300" b="0" dirty="0">
                <a:solidFill>
                  <a:srgbClr val="6B6B6B"/>
                </a:solidFill>
                <a:latin typeface="Calibri"/>
              </a:rPr>
              <a:t>  vs.  </a:t>
            </a:r>
            <a:r>
              <a:rPr sz="1300" b="1" dirty="0">
                <a:solidFill>
                  <a:srgbClr val="E85D45"/>
                </a:solidFill>
                <a:latin typeface="Calibri"/>
              </a:rPr>
              <a:t>$3,000–$12,000</a:t>
            </a:r>
          </a:p>
          <a:p>
            <a:pPr algn="l">
              <a:spcBef>
                <a:spcPts val="600"/>
              </a:spcBef>
            </a:pPr>
            <a:r>
              <a:rPr sz="1400" b="1" dirty="0">
                <a:solidFill>
                  <a:srgbClr val="0D1B2A"/>
                </a:solidFill>
                <a:latin typeface="Calibri"/>
              </a:rPr>
              <a:t>TOTAL:  </a:t>
            </a:r>
            <a:r>
              <a:rPr sz="1400" b="1" dirty="0">
                <a:solidFill>
                  <a:srgbClr val="007C7A"/>
                </a:solidFill>
                <a:latin typeface="Calibri"/>
              </a:rPr>
              <a:t>~$2–$4 simulated</a:t>
            </a:r>
            <a:r>
              <a:rPr sz="1400" b="0" dirty="0">
                <a:solidFill>
                  <a:srgbClr val="6B6B6B"/>
                </a:solidFill>
                <a:latin typeface="Calibri"/>
              </a:rPr>
              <a:t>  vs.  </a:t>
            </a:r>
            <a:r>
              <a:rPr sz="1400" b="1" dirty="0">
                <a:solidFill>
                  <a:srgbClr val="E85D45"/>
                </a:solidFill>
                <a:latin typeface="Calibri"/>
              </a:rPr>
              <a:t>$6,000–$48,000+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Simulated research produces directional hypotheses — not decision-grade data. Its value: inform real survey design, prioritize questions, and generate testable hypotheses before committing budget.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30936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Client Discovery  →  Simulated Interviews  →  AI Survey Design  →  Synthetic Respondents  →  Data Analysis  →  Insights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Calibri"/>
              </a:defRPr>
            </a:pPr>
            <a:r>
              <a:t>Your Mission: Build the Open-Source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Focus on one or more stages. Deep work on a single stage is valued equally to breadth. The Neo Smart Living Tahoe Mini is your live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1: Client Discovery Interview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LLM role-plays as Tony Koo (digital twin)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2: Simulated Consumer Interviews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30 persona-grounded depth interviews × 2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16936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3: AI-Assisted Survey Design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Qual → quant: translate themes into ~35-item survey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66744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0A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4: Simulated Survey Respondents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60 synthetic responses; cross-model reliability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16552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5: Data Analysis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Descriptive, segment comparison, association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66360"/>
            <a:ext cx="3931920" cy="658368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Stage 6: Insights Presentation</a:t>
            </a:r>
          </a:p>
          <a:p>
            <a:pPr>
              <a:spcBef>
                <a:spcPts val="0"/>
              </a:spcBef>
              <a:defRPr sz="1000">
                <a:solidFill>
                  <a:srgbClr val="CCDDDD"/>
                </a:solidFill>
                <a:latin typeface="Calibri"/>
              </a:defRPr>
            </a:pPr>
            <a:r>
              <a:t>Key findings for Tony Koo + confidence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C7A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737360"/>
            <a:ext cx="3474720" cy="868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①  Working Code / Prototype</a:t>
            </a:r>
          </a:p>
          <a:p>
            <a:pPr>
              <a:spcBef>
                <a:spcPts val="200"/>
              </a:spcBef>
              <a:defRPr sz="1000">
                <a:solidFill>
                  <a:srgbClr val="6B6B6B"/>
                </a:solidFill>
                <a:latin typeface="Calibri"/>
              </a:defRPr>
            </a:pPr>
            <a:r>
              <a:t>Improve the provided prototype (prototype/).</a:t>
            </a:r>
            <a:br/>
            <a:r>
              <a:t>Runnable app; demo at least 1 stage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679192"/>
            <a:ext cx="3474720" cy="868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②  Neo Smart Living Insights</a:t>
            </a:r>
          </a:p>
          <a:p>
            <a:pPr>
              <a:spcBef>
                <a:spcPts val="200"/>
              </a:spcBef>
              <a:defRPr sz="1000">
                <a:solidFill>
                  <a:srgbClr val="6B6B6B"/>
                </a:solidFill>
                <a:latin typeface="Calibri"/>
              </a:defRPr>
            </a:pPr>
            <a:r>
              <a:t>Actionable findings for the Tahoe Mini —</a:t>
            </a:r>
            <a:br/>
            <a:r>
              <a:t>concept validation, segment priorities,</a:t>
            </a:r>
            <a:br/>
            <a:r>
              <a:t>messaging recommendations for Tony Koo.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621024"/>
            <a:ext cx="3474720" cy="868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③  Responsible AI Note (½ pg)</a:t>
            </a:r>
          </a:p>
          <a:p>
            <a:pPr>
              <a:spcBef>
                <a:spcPts val="200"/>
              </a:spcBef>
              <a:defRPr sz="1000">
                <a:solidFill>
                  <a:srgbClr val="6B6B6B"/>
                </a:solidFill>
                <a:latin typeface="Calibri"/>
              </a:defRPr>
            </a:pPr>
            <a:r>
              <a:t>Synthetic data labeled. Limitations stated.</a:t>
            </a:r>
            <a:br/>
            <a:r>
              <a:t>Hypothesis generation ≠ decision-grade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562856"/>
            <a:ext cx="3474720" cy="868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12121"/>
                </a:solidFill>
                <a:latin typeface="Calibri"/>
              </a:defRPr>
            </a:pPr>
            <a:r>
              <a:t>④  GenAI Documentation</a:t>
            </a:r>
          </a:p>
          <a:p>
            <a:pPr>
              <a:spcBef>
                <a:spcPts val="200"/>
              </a:spcBef>
              <a:defRPr sz="1000">
                <a:solidFill>
                  <a:srgbClr val="6B6B6B"/>
                </a:solidFill>
                <a:latin typeface="Calibri"/>
              </a:defRPr>
            </a:pPr>
            <a:r>
              <a:t>Tools, prompts, AI-generated components,</a:t>
            </a:r>
            <a:br/>
            <a:r>
              <a:t>human modifications.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550408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CE4E0"/>
          </a:solidFill>
          <a:ln w="12700">
            <a:solidFill>
              <a:srgbClr val="E85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85D45"/>
                </a:solidFill>
                <a:latin typeface="Calibri"/>
              </a:defRPr>
            </a:pPr>
            <a:r>
              <a:t>LIVE CASE: NEO SMART LIVING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alibri"/>
              </a:defRPr>
            </a:pPr>
            <a:r>
              <a:t>  •  Tahoe Mini: $23K, 117 sq ft, one-day install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alibri"/>
              </a:defRPr>
            </a:pPr>
            <a:r>
              <a:t>  •  Research Q: Who wants a backyard basecamp?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alibri"/>
              </a:defRPr>
            </a:pPr>
            <a:r>
              <a:t>  •  5 positioning concepts to test (Adventure wins?)</a:t>
            </a:r>
          </a:p>
          <a:p>
            <a:pPr>
              <a:spcAft>
                <a:spcPts val="100"/>
              </a:spcAft>
              <a:defRPr sz="1000">
                <a:solidFill>
                  <a:srgbClr val="212121"/>
                </a:solidFill>
                <a:latin typeface="Calibri"/>
              </a:defRPr>
            </a:pPr>
            <a:r>
              <a:t>  •  Tony Koo = CPP CBA dropout → serial entrepreneur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960" y="1225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C7A"/>
                </a:solidFill>
                <a:latin typeface="Calibri"/>
              </a:defRPr>
            </a:pPr>
            <a:r>
              <a:rPr dirty="0"/>
              <a:t>JUDGING CRITERIA (50 PTS)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517904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03920" y="1517904"/>
            <a:ext cx="54864" cy="777240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15361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Innovation &amp;</a:t>
            </a:r>
            <a:br/>
            <a:r>
              <a:t>Problem Framing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15361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9019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Original pipeline design;</a:t>
            </a:r>
            <a:br/>
            <a:r>
              <a:t>cross-model validation depth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386584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03920" y="2386584"/>
            <a:ext cx="54864" cy="777240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24048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Impact &amp;</a:t>
            </a:r>
            <a:br/>
            <a:r>
              <a:t>Relevance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2404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770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Actionable for Tony Koo;</a:t>
            </a:r>
            <a:br/>
            <a:r>
              <a:t>open-source reuse potential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255264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03920" y="3255264"/>
            <a:ext cx="54864" cy="777240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41080" y="3273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Technical or</a:t>
            </a:r>
            <a:br/>
            <a:r>
              <a:t>Design Feasibility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2735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6393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Code works; methodology sound;</a:t>
            </a:r>
            <a:br/>
            <a:r>
              <a:t>responsible AI practices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4123944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03920" y="4123944"/>
            <a:ext cx="54864" cy="777240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41422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User Need &amp;</a:t>
            </a:r>
            <a:br/>
            <a:r>
              <a:t>Adoption Potential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4142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507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t>Pipeline users would trust;</a:t>
            </a:r>
            <a:br/>
            <a:r>
              <a:t>modular &amp; documented 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5010912"/>
            <a:ext cx="3200400" cy="7772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503920" y="4943076"/>
            <a:ext cx="54864" cy="777240"/>
          </a:xfrm>
          <a:prstGeom prst="rect">
            <a:avLst/>
          </a:prstGeom>
          <a:solidFill>
            <a:srgbClr val="00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41080" y="50109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Storytelling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5010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C7A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53271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Calibri"/>
              </a:defRPr>
            </a:pPr>
            <a:r>
              <a:rPr dirty="0"/>
              <a:t>Compelling 5-min video;</a:t>
            </a:r>
            <a:br>
              <a:rPr dirty="0"/>
            </a:br>
            <a:r>
              <a:rPr dirty="0"/>
              <a:t>vivid "why" narrative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2185" y="5824728"/>
            <a:ext cx="3889815" cy="1078992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rPr dirty="0"/>
              <a:t>DATA &amp; TOOLS PROVIDED: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Working prototype code (11 Python files)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Sample output data + </a:t>
            </a:r>
            <a:r>
              <a:rPr dirty="0" err="1"/>
              <a:t>Streamlit</a:t>
            </a:r>
            <a:r>
              <a:rPr dirty="0"/>
              <a:t> dashboards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35-item survey (Markdown + Google Forms PDF)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Customized GPT digital twin of Tony Koo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Neo Smart Living &amp; STAMP references</a:t>
            </a:r>
          </a:p>
          <a:p>
            <a:pPr>
              <a:spcAft>
                <a:spcPts val="0"/>
              </a:spcAft>
              <a:defRPr sz="1000">
                <a:solidFill>
                  <a:srgbClr val="6B6B6B"/>
                </a:solidFill>
                <a:latin typeface="Calibri"/>
              </a:defRPr>
            </a:pPr>
            <a:r>
              <a:rPr dirty="0"/>
              <a:t>  •  </a:t>
            </a:r>
            <a:r>
              <a:rPr dirty="0" err="1"/>
              <a:t>Aytm</a:t>
            </a:r>
            <a:r>
              <a:rPr dirty="0"/>
              <a:t> Skipper as commercial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1003</Words>
  <Application>Microsoft Macintosh PowerPoint</Application>
  <PresentationFormat>Widescreen</PresentationFormat>
  <Paragraphs>94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Lin, Yufan (MU-Student)</cp:lastModifiedBy>
  <cp:revision>5</cp:revision>
  <dcterms:created xsi:type="dcterms:W3CDTF">2013-01-27T09:14:16Z</dcterms:created>
  <dcterms:modified xsi:type="dcterms:W3CDTF">2026-03-13T19:25:13Z</dcterms:modified>
  <cp:category/>
</cp:coreProperties>
</file>