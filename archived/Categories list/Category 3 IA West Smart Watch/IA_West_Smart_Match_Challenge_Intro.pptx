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 snapToGrid="0" snapToObjects="1">
      <p:cViewPr varScale="1">
        <p:scale>
          <a:sx n="120" d="100"/>
          <a:sy n="120" d="100"/>
        </p:scale>
        <p:origin x="44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57200" y="54864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CPP AI HACKATHON  —  "AI FOR A BETTER FUTURE"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3600" b="1">
                <a:solidFill>
                  <a:srgbClr val="1B5E20"/>
                </a:solidFill>
                <a:latin typeface="Calibri"/>
              </a:defRPr>
            </a:pPr>
            <a:r>
              <a:t>IA West Smart Match</a:t>
            </a:r>
          </a:p>
          <a:p>
            <a:pPr>
              <a:spcBef>
                <a:spcPts val="0"/>
              </a:spcBef>
              <a:defRPr sz="3600" b="1">
                <a:solidFill>
                  <a:srgbClr val="1B5E20"/>
                </a:solidFill>
                <a:latin typeface="Calibri"/>
              </a:defRPr>
            </a:pPr>
            <a:r>
              <a:t>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16161"/>
                </a:solidFill>
                <a:latin typeface="Calibri"/>
              </a:defRPr>
            </a:pPr>
            <a:r>
              <a:t>AI-Powered CRM: Discover Campus Opportunities,</a:t>
            </a:r>
            <a:br/>
            <a:r>
              <a:t>Match Volunteers, Grow Membership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204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Sponsor: IA West Chapter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3520440"/>
            <a:ext cx="2560320" cy="502920"/>
          </a:xfrm>
          <a:prstGeom prst="roundRect">
            <a:avLst>
              <a:gd name="adj" fmla="val 5000"/>
            </a:avLst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$2,000 Prize Pool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60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AI Fair Finale: April 16, 2026  |  Bronco Student Center, Ursa Major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548640"/>
            <a:ext cx="5303520" cy="585216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0" y="6858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ABOUT YOUR 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10515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5E20"/>
                </a:solidFill>
                <a:latin typeface="Calibri"/>
              </a:defRPr>
            </a:pPr>
            <a:r>
              <a:t>The Insights Association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1600200"/>
            <a:ext cx="47548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30,000+ professionals</a:t>
            </a:r>
            <a:r>
              <a:rPr sz="1500" b="0">
                <a:solidFill>
                  <a:srgbClr val="616161"/>
                </a:solidFill>
                <a:latin typeface="Calibri"/>
              </a:rPr>
              <a:t> in market research, analytics, and consulting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Mission:</a:t>
            </a:r>
            <a:r>
              <a:rPr sz="1500" b="0">
                <a:solidFill>
                  <a:srgbClr val="616161"/>
                </a:solidFill>
                <a:latin typeface="Calibri"/>
              </a:rPr>
              <a:t> Education, certification, advocacy — upholding transparency, quality, and trust for the research industry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7 regional chapters</a:t>
            </a:r>
            <a:r>
              <a:rPr sz="1500" b="0">
                <a:solidFill>
                  <a:srgbClr val="616161"/>
                </a:solidFill>
                <a:latin typeface="Calibri"/>
              </a:rPr>
              <a:t> nationwide; West Chapter covers Portland to San Diego</a:t>
            </a:r>
          </a:p>
          <a:p>
            <a:pPr>
              <a:spcAft>
                <a:spcPts val="1000"/>
              </a:spcAft>
            </a:pPr>
            <a:r>
              <a:rPr sz="1500" b="1">
                <a:solidFill>
                  <a:srgbClr val="333333"/>
                </a:solidFill>
                <a:latin typeface="Calibri"/>
              </a:rPr>
              <a:t>University engagement:</a:t>
            </a:r>
            <a:r>
              <a:rPr sz="1500" b="0">
                <a:solidFill>
                  <a:srgbClr val="616161"/>
                </a:solidFill>
                <a:latin typeface="Calibri"/>
              </a:rPr>
              <a:t> Guest lectures, networking events, and internship programs through member organizations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00695C"/>
                </a:solidFill>
                <a:latin typeface="Calibri"/>
              </a:defRPr>
            </a:pPr>
            <a:r>
              <a:t>Free Student Membership Benefits:</a:t>
            </a:r>
          </a:p>
          <a:p>
            <a:pPr>
              <a:spcAft>
                <a:spcPts val="2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  •  Industry news, white papers, and webinars</a:t>
            </a:r>
          </a:p>
          <a:p>
            <a:pPr>
              <a:spcAft>
                <a:spcPts val="2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  •  Networking with leaders through local chapters</a:t>
            </a:r>
          </a:p>
          <a:p>
            <a:pPr>
              <a:spcAft>
                <a:spcPts val="2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  •  Career center: job search, resume advice, mentoring</a:t>
            </a:r>
          </a:p>
          <a:p>
            <a:pPr>
              <a:spcAft>
                <a:spcPts val="2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  •  Training resources and certification opportunities</a:t>
            </a:r>
          </a:p>
          <a:p>
            <a:pPr>
              <a:spcAft>
                <a:spcPts val="200"/>
              </a:spcAft>
              <a:defRPr sz="1300">
                <a:solidFill>
                  <a:srgbClr val="616161"/>
                </a:solidFill>
                <a:latin typeface="Calibri"/>
              </a:defRPr>
            </a:pPr>
            <a:r>
              <a:t>  •  insightsassociation.org/About-Us/Joining-IA</a:t>
            </a:r>
          </a:p>
          <a:p>
            <a:pPr>
              <a:spcBef>
                <a:spcPts val="1200"/>
              </a:spcBef>
            </a:pPr>
            <a:r>
              <a:rPr sz="1200" i="1">
                <a:solidFill>
                  <a:srgbClr val="2E7D32"/>
                </a:solidFill>
                <a:latin typeface="Calibri"/>
              </a:rPr>
              <a:t>"Impact begins with insight. Insight begins with the Insights Association."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Cal Poly Pomona  •  College of Business Administration  •  Category: Community Growth &amp; Membership</a:t>
            </a:r>
          </a:p>
        </p:txBody>
      </p:sp>
      <p:pic>
        <p:nvPicPr>
          <p:cNvPr id="1028" name="Picture 4" descr="Insights Association">
            <a:extLst>
              <a:ext uri="{FF2B5EF4-FFF2-40B4-BE49-F238E27FC236}">
                <a16:creationId xmlns:a16="http://schemas.microsoft.com/office/drawing/2014/main" id="{7CA95EFF-8552-76A6-A493-737E4318C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41" y="4946764"/>
            <a:ext cx="3487479" cy="8963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199" y="365760"/>
            <a:ext cx="1136620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5E20"/>
                </a:solidFill>
                <a:latin typeface="Calibri"/>
              </a:defRPr>
            </a:pPr>
            <a:r>
              <a:rPr dirty="0"/>
              <a:t>The Problem: Campus Opportunities Are Everywhere — But Invisible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Calibri"/>
              </a:defRPr>
            </a:pPr>
            <a:r>
              <a:rPr dirty="0"/>
              <a:t>How might IA West discover campus engagement opportunities — hackathons, career fairs, competitions, guest lectures — and convert them into membership?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No Systematic</a:t>
            </a:r>
            <a:br/>
            <a:r>
              <a:t>Discovery or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603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Universities host hackathons, career fairs, case competitions, and research symposia where industry volunteers are needed. But there is no system to discover these opportunities or match board members to them.</a:t>
            </a:r>
            <a:br/>
            <a:br/>
            <a:r>
              <a:t>Opportunities are missed. The same few volunteers are overused while others sit idle.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64592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434840" y="1828800"/>
            <a:ext cx="457200" cy="4572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Invisible Engagement-</a:t>
            </a:r>
            <a:br/>
            <a:r>
              <a:t>to-Membership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5603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A student meets an IA member judging their hackathon or speaking at a career panel — but there is no tracking to IA event attendance, mentorship, or membership.</a:t>
            </a:r>
            <a:br/>
            <a:br/>
            <a:r>
              <a:t>The chapter can't measure which engagements drive growth — so it can't optimize.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645920"/>
            <a:ext cx="3474720" cy="292608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1828800"/>
            <a:ext cx="457200" cy="457200"/>
          </a:xfrm>
          <a:prstGeom prst="ellipse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182880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5E20"/>
                </a:solidFill>
                <a:latin typeface="Calibri"/>
              </a:defRPr>
            </a:pPr>
            <a:r>
              <a:t>Volunteer Capacity</a:t>
            </a:r>
            <a:br/>
            <a:r>
              <a:t>Constraints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56032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IA West is entirely volunteer-run. Manually discovering campus events, coordinating volunteers, and tracking conversions doesn't scale across 8+ events/year and dozens of campuses.</a:t>
            </a:r>
            <a:br/>
            <a:br/>
            <a:r>
              <a:t>The chapter needs automation to multiply limited ops bandwidth.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THE PIPELINE THAT NEEDS TO WORK: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800" b="1">
                <a:solidFill>
                  <a:srgbClr val="1B5E20"/>
                </a:solidFill>
                <a:latin typeface="Calibri"/>
              </a:defRPr>
            </a:pPr>
            <a:r>
              <a:t>Campus Engagement  →  IA Event Attendance  →  Mentorship  →  Student Member  →  Young Professional  →  Corporate Member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806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16161"/>
                </a:solidFill>
                <a:latin typeface="Calibri"/>
              </a:defRPr>
            </a:pPr>
            <a:r>
              <a:t>IA West: 17 board members  •  8+ events/year (Portland → San Diego)  •  CPP alone: 15 recurring campus programs + 35 marketing course sections + 280+ high-fit seats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insightsassociation.org/About-Us/Chapters/West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3716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B5E20"/>
                </a:solidFill>
                <a:latin typeface="Calibri"/>
              </a:defRPr>
            </a:pPr>
            <a:r>
              <a:t>Your Mission: Build Smart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16161"/>
                </a:solidFill>
                <a:latin typeface="Calibri"/>
              </a:defRPr>
            </a:pPr>
            <a:r>
              <a:t>Discover campus opportunities, match IA volunteers, track the membership pipeline, and scale beyond CPP.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Module 1: Volunteers</a:t>
            </a:r>
          </a:p>
          <a:p>
            <a:pPr>
              <a:spcBef>
                <a:spcPts val="300"/>
              </a:spcBef>
              <a:defRPr sz="1200">
                <a:solidFill>
                  <a:srgbClr val="E0E0E0"/>
                </a:solidFill>
                <a:latin typeface="Calibri"/>
              </a:defRPr>
            </a:pPr>
            <a:r>
              <a:t>Board member profiles, expertise, role prefs</a:t>
            </a:r>
            <a:br/>
            <a:r>
              <a:t>(judge, mentor, speaker, panelist), availability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65176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Module 2: Opportunities</a:t>
            </a:r>
          </a:p>
          <a:p>
            <a:pPr>
              <a:spcBef>
                <a:spcPts val="300"/>
              </a:spcBef>
              <a:defRPr sz="1200">
                <a:solidFill>
                  <a:srgbClr val="E0E0E0"/>
                </a:solidFill>
                <a:latin typeface="Calibri"/>
              </a:defRPr>
            </a:pPr>
            <a:r>
              <a:t>Campus events (hackathons, career fairs, competitions)</a:t>
            </a:r>
            <a:br/>
            <a:r>
              <a:t>+ course guest lectures; auto-discovered from web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74904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Module 3: Matching Engine</a:t>
            </a:r>
          </a:p>
          <a:p>
            <a:pPr>
              <a:spcBef>
                <a:spcPts val="300"/>
              </a:spcBef>
              <a:defRPr sz="1200">
                <a:solidFill>
                  <a:srgbClr val="E0E0E0"/>
                </a:solidFill>
                <a:latin typeface="Calibri"/>
              </a:defRPr>
            </a:pPr>
            <a:r>
              <a:t>AI-powered volunteer ↔ opportunity ↔ IA event</a:t>
            </a:r>
            <a:br/>
            <a:r>
              <a:t>matching, outreach generation, event scoring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846320"/>
            <a:ext cx="3657600" cy="960120"/>
          </a:xfrm>
          <a:prstGeom prst="roundRect">
            <a:avLst>
              <a:gd name="adj" fmla="val 5000"/>
            </a:avLst>
          </a:prstGeom>
          <a:solidFill>
            <a:srgbClr val="006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Module 4: Member Journey</a:t>
            </a:r>
          </a:p>
          <a:p>
            <a:pPr>
              <a:spcBef>
                <a:spcPts val="300"/>
              </a:spcBef>
              <a:defRPr sz="1200">
                <a:solidFill>
                  <a:srgbClr val="E0E0E0"/>
                </a:solidFill>
                <a:latin typeface="Calibri"/>
              </a:defRPr>
            </a:pPr>
            <a:r>
              <a:t>Track: campus engagement → IA event → mentee</a:t>
            </a:r>
            <a:br/>
            <a:r>
              <a:t>→ student member → professional → corporate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554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REQUIRED DELIVERABLES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965960"/>
            <a:ext cx="347472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①  Working Prototype CRM</a:t>
            </a:r>
          </a:p>
          <a:p>
            <a:pPr>
              <a:spcBef>
                <a:spcPts val="200"/>
              </a:spcBef>
              <a:defRPr sz="1100">
                <a:solidFill>
                  <a:srgbClr val="616161"/>
                </a:solidFill>
                <a:latin typeface="Calibri"/>
              </a:defRPr>
            </a:pPr>
            <a:r>
              <a:t>Matching engine + opportunity discovery method.</a:t>
            </a:r>
            <a:br/>
            <a:r>
              <a:t>Must demo automated expansion beyond CPP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3035808"/>
            <a:ext cx="347472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②  Growth Strategy (2–3 pages)</a:t>
            </a:r>
          </a:p>
          <a:p>
            <a:pPr>
              <a:spcBef>
                <a:spcPts val="200"/>
              </a:spcBef>
              <a:defRPr sz="1100">
                <a:solidFill>
                  <a:srgbClr val="616161"/>
                </a:solidFill>
                <a:latin typeface="Calibri"/>
              </a:defRPr>
            </a:pPr>
            <a:r>
              <a:t>How Smart Match drives engagement → event →</a:t>
            </a:r>
            <a:br/>
            <a:r>
              <a:t>membership; rollout from CPP to 3+ universities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4105656"/>
            <a:ext cx="347472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③  Measurement Plan</a:t>
            </a:r>
          </a:p>
          <a:p>
            <a:pPr>
              <a:spcBef>
                <a:spcPts val="200"/>
              </a:spcBef>
              <a:defRPr sz="1100">
                <a:solidFill>
                  <a:srgbClr val="616161"/>
                </a:solidFill>
                <a:latin typeface="Calibri"/>
              </a:defRPr>
            </a:pPr>
            <a:r>
              <a:t>KPIs for pipeline conversion, event scoring,</a:t>
            </a:r>
            <a:br/>
            <a:r>
              <a:t>volunteer utilization; include validation experiment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5175504"/>
            <a:ext cx="3474720" cy="960120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333333"/>
                </a:solidFill>
                <a:latin typeface="Calibri"/>
              </a:defRPr>
            </a:pPr>
            <a:r>
              <a:t>④  Responsible AI Note (½ page)</a:t>
            </a:r>
          </a:p>
          <a:p>
            <a:pPr>
              <a:spcBef>
                <a:spcPts val="200"/>
              </a:spcBef>
              <a:defRPr sz="1100">
                <a:solidFill>
                  <a:srgbClr val="616161"/>
                </a:solidFill>
                <a:latin typeface="Calibri"/>
              </a:defRPr>
            </a:pPr>
            <a:r>
              <a:t>Privacy, bias in matching algorithm, transparency</a:t>
            </a:r>
            <a:br/>
            <a:r>
              <a:t>of scores, consent &amp; data handling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5544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E7D32"/>
                </a:solidFill>
                <a:latin typeface="Calibri"/>
              </a:defRPr>
            </a:pPr>
            <a:r>
              <a:t>JUDGING CRITERIA (50 PTS)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965960"/>
            <a:ext cx="3474720" cy="66751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1965960"/>
            <a:ext cx="54864" cy="6675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66760" y="198424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Innovation &amp;</a:t>
            </a:r>
            <a:br/>
            <a:r>
              <a:t>Problem Framing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198424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10 pts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3134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Discovery + matching</a:t>
            </a:r>
            <a:br/>
            <a:r>
              <a:t>originality; scales beyond CPP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697480"/>
            <a:ext cx="3474720" cy="66751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2697480"/>
            <a:ext cx="54864" cy="6675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66760" y="271576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Impact &amp;</a:t>
            </a:r>
            <a:br/>
            <a:r>
              <a:t>Relevance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271576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10 pts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0449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Realistic pipeline growth;</a:t>
            </a:r>
            <a:br/>
            <a:r>
              <a:t>compelling for volunteers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3429000"/>
            <a:ext cx="3474720" cy="66751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229600" y="3429000"/>
            <a:ext cx="54864" cy="6675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366760" y="34472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Technical or</a:t>
            </a:r>
            <a:br/>
            <a:r>
              <a:t>Design Feasibility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344728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10 pts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776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Discovery method works;</a:t>
            </a:r>
            <a:br/>
            <a:r>
              <a:t>responsible AI practices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4160520"/>
            <a:ext cx="3474720" cy="66751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29600" y="4160520"/>
            <a:ext cx="54864" cy="6675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366760" y="417880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User Need &amp;</a:t>
            </a:r>
            <a:br/>
            <a:r>
              <a:t>Adoption Potential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417880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10 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60" y="45079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Board/faculty would use it;</a:t>
            </a:r>
            <a:br/>
            <a:r>
              <a:t>plausible measurement plan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29600" y="4892040"/>
            <a:ext cx="3474720" cy="667512"/>
          </a:xfrm>
          <a:prstGeom prst="roundRect">
            <a:avLst>
              <a:gd name="adj" fmla="val 5000"/>
            </a:avLst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229600" y="4892040"/>
            <a:ext cx="54864" cy="66751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366760" y="491032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5E20"/>
                </a:solidFill>
                <a:latin typeface="Calibri"/>
              </a:defRPr>
            </a:pPr>
            <a:r>
              <a:t>Storytelling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49103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2E7D32"/>
                </a:solidFill>
                <a:latin typeface="Calibri"/>
              </a:defRPr>
            </a:pPr>
            <a:r>
              <a:t>10 pts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5239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16161"/>
                </a:solidFill>
                <a:latin typeface="Calibri"/>
              </a:defRPr>
            </a:pPr>
            <a:r>
              <a:t>Compelling 5-min video;</a:t>
            </a:r>
            <a:br/>
            <a:r>
              <a:t>clear "why" narrative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0" y="5623560"/>
            <a:ext cx="3474720" cy="50292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>
                <a:solidFill>
                  <a:srgbClr val="1B5E20"/>
                </a:solidFill>
                <a:latin typeface="Calibri"/>
              </a:defRPr>
            </a:pPr>
            <a:r>
              <a:t>4 CSV datasets: speaker profiles, CPP events,</a:t>
            </a:r>
          </a:p>
          <a:p>
            <a:pPr>
              <a:spcAft>
                <a:spcPts val="0"/>
              </a:spcAft>
              <a:defRPr sz="1000">
                <a:solidFill>
                  <a:srgbClr val="1B5E20"/>
                </a:solidFill>
                <a:latin typeface="Calibri"/>
              </a:defRPr>
            </a:pPr>
            <a:r>
              <a:t>course schedule, IA event calendar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16161"/>
                </a:solidFill>
                <a:latin typeface="Calibri"/>
              </a:defRPr>
            </a:pPr>
            <a:r>
              <a:t>Full challenge brief: IA_West_Smart_Match_Challenge.md  |  Category: Community Growth &amp; Membership  |  "Insights Association West Challenge Award"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785</Words>
  <Application>Microsoft Macintosh PowerPoint</Application>
  <PresentationFormat>Widescreen</PresentationFormat>
  <Paragraphs>75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Lin, Yufan (MU-Student)</cp:lastModifiedBy>
  <cp:revision>3</cp:revision>
  <dcterms:created xsi:type="dcterms:W3CDTF">2013-01-27T09:14:16Z</dcterms:created>
  <dcterms:modified xsi:type="dcterms:W3CDTF">2026-03-13T19:25:46Z</dcterms:modified>
  <cp:category/>
</cp:coreProperties>
</file>